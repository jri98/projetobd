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74" r:id="rId3"/>
    <p:sldId id="273" r:id="rId4"/>
    <p:sldId id="279" r:id="rId5"/>
    <p:sldId id="277" r:id="rId6"/>
    <p:sldId id="264" r:id="rId7"/>
    <p:sldId id="275" r:id="rId8"/>
    <p:sldId id="260" r:id="rId9"/>
    <p:sldId id="271" r:id="rId10"/>
    <p:sldId id="276" r:id="rId11"/>
    <p:sldId id="258" r:id="rId12"/>
    <p:sldId id="261" r:id="rId13"/>
    <p:sldId id="270" r:id="rId14"/>
    <p:sldId id="280" r:id="rId15"/>
    <p:sldId id="269" r:id="rId16"/>
    <p:sldId id="267" r:id="rId17"/>
    <p:sldId id="268" r:id="rId18"/>
    <p:sldId id="272" r:id="rId19"/>
    <p:sldId id="266" r:id="rId20"/>
    <p:sldId id="281" r:id="rId21"/>
    <p:sldId id="282" r:id="rId22"/>
    <p:sldId id="28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4660"/>
  </p:normalViewPr>
  <p:slideViewPr>
    <p:cSldViewPr snapToGrid="0">
      <p:cViewPr varScale="1">
        <p:scale>
          <a:sx n="86" d="100"/>
          <a:sy n="86" d="100"/>
        </p:scale>
        <p:origin x="71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42240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37137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41196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33836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62551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78889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16443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2311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78434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11686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590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93568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 com 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895058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Editar os estilos de texto do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088605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673928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53105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288529-8892-42A3-98C5-19AD8E73A77C}" type="datetimeFigureOut">
              <a:rPr lang="pt-PT" smtClean="0"/>
              <a:t>15/01/2019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6FFD6E2-20E7-4402-92C6-86669F8AAF2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167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47203-15DC-4799-B4AF-D576C0854B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dirty="0"/>
              <a:t>Gestão de Sistemas de Produção de Energia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7B1210-5088-449C-B3EE-DE1E028DF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15" y="4670245"/>
            <a:ext cx="7315200" cy="1062339"/>
          </a:xfrm>
        </p:spPr>
        <p:txBody>
          <a:bodyPr>
            <a:normAutofit fontScale="92500" lnSpcReduction="10000"/>
          </a:bodyPr>
          <a:lstStyle/>
          <a:p>
            <a:r>
              <a:rPr lang="pt-PT" dirty="0"/>
              <a:t>Unidade Curricular de Base de Dados</a:t>
            </a:r>
          </a:p>
          <a:p>
            <a:r>
              <a:rPr lang="pt-PT" sz="1800" dirty="0"/>
              <a:t>Ano Letivo 2018/2019</a:t>
            </a:r>
          </a:p>
          <a:p>
            <a:r>
              <a:rPr lang="pt-PT" sz="1800" dirty="0"/>
              <a:t>Grupo 21</a:t>
            </a:r>
          </a:p>
          <a:p>
            <a:endParaRPr lang="pt-PT" sz="1800" dirty="0"/>
          </a:p>
        </p:txBody>
      </p:sp>
    </p:spTree>
    <p:extLst>
      <p:ext uri="{BB962C8B-B14F-4D97-AF65-F5344CB8AC3E}">
        <p14:creationId xmlns:p14="http://schemas.microsoft.com/office/powerpoint/2010/main" val="1517649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E855EE6-A2B6-45D3-B662-05F2A5D80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864108"/>
            <a:ext cx="10905066" cy="4023578"/>
          </a:xfrm>
        </p:spPr>
        <p:txBody>
          <a:bodyPr>
            <a:normAutofit/>
          </a:bodyPr>
          <a:lstStyle/>
          <a:p>
            <a:r>
              <a:rPr lang="pt-PT" dirty="0"/>
              <a:t>Este PowerPoint destina-se à apresentação do projeto desenvolvido pelo grupo 21 da Unidade Curricular de Bases de Dados, do ano letivo 2018/2019.</a:t>
            </a:r>
          </a:p>
          <a:p>
            <a:r>
              <a:rPr lang="pt-PT" dirty="0"/>
              <a:t>O grupo é constituído por:</a:t>
            </a:r>
          </a:p>
          <a:p>
            <a:pPr lvl="1"/>
            <a:r>
              <a:rPr lang="pt-PT" dirty="0"/>
              <a:t>(PREENCHER)</a:t>
            </a:r>
          </a:p>
          <a:p>
            <a:pPr lvl="1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77672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06109-EDCF-46BA-B29B-3A68ED6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2114" y="1083731"/>
            <a:ext cx="8184221" cy="475879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spc="-100" dirty="0"/>
              <a:t>Sistema SQL</a:t>
            </a:r>
          </a:p>
        </p:txBody>
      </p:sp>
    </p:spTree>
    <p:extLst>
      <p:ext uri="{BB962C8B-B14F-4D97-AF65-F5344CB8AC3E}">
        <p14:creationId xmlns:p14="http://schemas.microsoft.com/office/powerpoint/2010/main" val="142937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06109-EDCF-46BA-B29B-3A68ED6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622" y="1298448"/>
            <a:ext cx="7187529" cy="295181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spc="-100" dirty="0" err="1"/>
              <a:t>Levantamento</a:t>
            </a:r>
            <a:r>
              <a:rPr lang="en-US" sz="5400" spc="-100" dirty="0"/>
              <a:t> e </a:t>
            </a:r>
            <a:r>
              <a:rPr lang="en-US" sz="5400" spc="-100" dirty="0" err="1"/>
              <a:t>Análise</a:t>
            </a:r>
            <a:r>
              <a:rPr lang="en-US" sz="5400" spc="-100" dirty="0"/>
              <a:t> de </a:t>
            </a:r>
            <a:r>
              <a:rPr lang="en-US" sz="5400" spc="-100" dirty="0" err="1"/>
              <a:t>Requisitos</a:t>
            </a:r>
            <a:endParaRPr lang="en-US" sz="5400" spc="-100" dirty="0"/>
          </a:p>
        </p:txBody>
      </p:sp>
    </p:spTree>
    <p:extLst>
      <p:ext uri="{BB962C8B-B14F-4D97-AF65-F5344CB8AC3E}">
        <p14:creationId xmlns:p14="http://schemas.microsoft.com/office/powerpoint/2010/main" val="4019797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433278-6B18-4C74-86EE-83EF5E84A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Levantamento e Análise de Requisitos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C6BBE05-69A0-443C-ACE4-AB8958D02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O levantamento e a análise de requisitos é essencialmente para que se possa identificar o esquema da base de dados e as funcionalidades que a mesma deve ter.</a:t>
            </a:r>
          </a:p>
          <a:p>
            <a:r>
              <a:rPr lang="pt-PT" dirty="0"/>
              <a:t>Este processo permite perceber se é possível implementar tudo o que foi idealizado pelo utilizador.</a:t>
            </a:r>
          </a:p>
        </p:txBody>
      </p:sp>
    </p:spTree>
    <p:extLst>
      <p:ext uri="{BB962C8B-B14F-4D97-AF65-F5344CB8AC3E}">
        <p14:creationId xmlns:p14="http://schemas.microsoft.com/office/powerpoint/2010/main" val="521610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06109-EDCF-46BA-B29B-3A68ED6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622" y="1298448"/>
            <a:ext cx="7187529" cy="295181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spc="-100" dirty="0" err="1"/>
              <a:t>Modelo</a:t>
            </a:r>
            <a:r>
              <a:rPr lang="en-US" sz="5400" spc="-100" dirty="0"/>
              <a:t> conceptual</a:t>
            </a:r>
          </a:p>
        </p:txBody>
      </p:sp>
    </p:spTree>
    <p:extLst>
      <p:ext uri="{BB962C8B-B14F-4D97-AF65-F5344CB8AC3E}">
        <p14:creationId xmlns:p14="http://schemas.microsoft.com/office/powerpoint/2010/main" val="2193795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456546-DA6E-46DF-9F5C-4EF58253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Modelo conceptual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4962C93-7678-49DA-9FF3-57DFDFE87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O modelo conceptual foi construído com base nos requisitos levantados e é o primeiro esboço do que viria a ser a base de dados.</a:t>
            </a:r>
          </a:p>
          <a:p>
            <a:r>
              <a:rPr lang="pt-PT" dirty="0"/>
              <a:t>As entidades são: Cliente, Funcionário, Requisição, Exemplar e Livro.</a:t>
            </a:r>
          </a:p>
          <a:p>
            <a:r>
              <a:rPr lang="pt-PT" dirty="0"/>
              <a:t>Um cliente pode fazer uma requisição, que é registado por um funcionário.</a:t>
            </a:r>
          </a:p>
          <a:p>
            <a:r>
              <a:rPr lang="pt-PT" dirty="0"/>
              <a:t>Uma requisição pode conter um ou mais exemplares, cada um referente a um livro. </a:t>
            </a:r>
          </a:p>
        </p:txBody>
      </p:sp>
    </p:spTree>
    <p:extLst>
      <p:ext uri="{BB962C8B-B14F-4D97-AF65-F5344CB8AC3E}">
        <p14:creationId xmlns:p14="http://schemas.microsoft.com/office/powerpoint/2010/main" val="2681730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Marcador de Posição de Conteúdo 4">
            <a:extLst>
              <a:ext uri="{FF2B5EF4-FFF2-40B4-BE49-F238E27FC236}">
                <a16:creationId xmlns:a16="http://schemas.microsoft.com/office/drawing/2014/main" id="{127EB281-BBF5-4FFC-ABBD-206E2CD16E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93" y="771434"/>
            <a:ext cx="10041815" cy="527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075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06109-EDCF-46BA-B29B-3A68ED6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622" y="1298448"/>
            <a:ext cx="7187529" cy="295181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spc="-100" dirty="0" err="1"/>
              <a:t>Modelo</a:t>
            </a:r>
            <a:r>
              <a:rPr lang="en-US" sz="5400" spc="-100" dirty="0"/>
              <a:t> </a:t>
            </a:r>
            <a:r>
              <a:rPr lang="en-US" sz="5400" spc="-100" dirty="0" err="1"/>
              <a:t>lógico</a:t>
            </a:r>
            <a:endParaRPr lang="en-US" sz="5400" spc="-100" dirty="0"/>
          </a:p>
        </p:txBody>
      </p:sp>
    </p:spTree>
    <p:extLst>
      <p:ext uri="{BB962C8B-B14F-4D97-AF65-F5344CB8AC3E}">
        <p14:creationId xmlns:p14="http://schemas.microsoft.com/office/powerpoint/2010/main" val="418045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E8FA-4F10-4063-8F96-2D535EBD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Modelo</a:t>
            </a:r>
            <a:br>
              <a:rPr lang="pt-PT" dirty="0"/>
            </a:br>
            <a:r>
              <a:rPr lang="pt-PT" dirty="0"/>
              <a:t>lógico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E4B63BA-82A2-4D3A-9024-86552880B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O modelo lógico é construído com base no modelo conceptual.</a:t>
            </a:r>
          </a:p>
          <a:p>
            <a:r>
              <a:rPr lang="pt-PT" dirty="0"/>
              <a:t>Nesta fase, pensa-se na consistência, integridade e redundância de dados.</a:t>
            </a:r>
          </a:p>
          <a:p>
            <a:r>
              <a:rPr lang="pt-PT" dirty="0"/>
              <a:t>É também no desenvolvimento do modelo lógico que se pensa os tipos de dados de cada atributo.</a:t>
            </a:r>
          </a:p>
        </p:txBody>
      </p:sp>
    </p:spTree>
    <p:extLst>
      <p:ext uri="{BB962C8B-B14F-4D97-AF65-F5344CB8AC3E}">
        <p14:creationId xmlns:p14="http://schemas.microsoft.com/office/powerpoint/2010/main" val="2665894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D6137F-7653-4B3F-85BF-A719CB7A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1683" y="4099728"/>
            <a:ext cx="8643257" cy="1883228"/>
          </a:xfrm>
        </p:spPr>
        <p:txBody>
          <a:bodyPr>
            <a:normAutofit/>
          </a:bodyPr>
          <a:lstStyle/>
          <a:p>
            <a:pPr algn="r"/>
            <a:r>
              <a:rPr lang="pt-PT" sz="4400" dirty="0"/>
              <a:t>Modelo conceptual vs. Modelo lógico       </a:t>
            </a:r>
          </a:p>
        </p:txBody>
      </p:sp>
      <p:pic>
        <p:nvPicPr>
          <p:cNvPr id="11" name="Marcador de Posição de Conteúdo 5">
            <a:extLst>
              <a:ext uri="{FF2B5EF4-FFF2-40B4-BE49-F238E27FC236}">
                <a16:creationId xmlns:a16="http://schemas.microsoft.com/office/drawing/2014/main" id="{73DA898D-F8F4-4222-AFC0-CD81F14B5C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639" y="567281"/>
            <a:ext cx="5520991" cy="2898519"/>
          </a:xfrm>
          <a:prstGeom prst="rect">
            <a:avLst/>
          </a:prstGeom>
        </p:spPr>
      </p:pic>
      <p:pic>
        <p:nvPicPr>
          <p:cNvPr id="8" name="Marcador de Posição de Conteúdo 4">
            <a:extLst>
              <a:ext uri="{FF2B5EF4-FFF2-40B4-BE49-F238E27FC236}">
                <a16:creationId xmlns:a16="http://schemas.microsoft.com/office/drawing/2014/main" id="{BB53406F-8884-4D37-BD91-EB2A07280C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16" y="567281"/>
            <a:ext cx="5037255" cy="289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2184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Marcador de Posição de Conteúdo 4">
            <a:extLst>
              <a:ext uri="{FF2B5EF4-FFF2-40B4-BE49-F238E27FC236}">
                <a16:creationId xmlns:a16="http://schemas.microsoft.com/office/drawing/2014/main" id="{127EB281-BBF5-4FFC-ABBD-206E2CD16E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564" y="566692"/>
            <a:ext cx="9144872" cy="568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818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06109-EDCF-46BA-B29B-3A68ED6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622" y="1298448"/>
            <a:ext cx="7187529" cy="295181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spc="-100"/>
              <a:t>Implementação física</a:t>
            </a:r>
          </a:p>
        </p:txBody>
      </p:sp>
    </p:spTree>
    <p:extLst>
      <p:ext uri="{BB962C8B-B14F-4D97-AF65-F5344CB8AC3E}">
        <p14:creationId xmlns:p14="http://schemas.microsoft.com/office/powerpoint/2010/main" val="1783178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3D6C6-DFD4-483E-AAC9-34D5BBC75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Vistas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61ECABE-6E51-44EF-A021-C6A63273F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As vistas permitem ter guardadas algumas </a:t>
            </a:r>
            <a:r>
              <a:rPr lang="pt-PT" i="1" dirty="0"/>
              <a:t>queries</a:t>
            </a:r>
            <a:r>
              <a:rPr lang="pt-PT" dirty="0"/>
              <a:t>, evitando a sucessiva repetição das mesmas.</a:t>
            </a:r>
          </a:p>
          <a:p>
            <a:r>
              <a:rPr lang="pt-PT" dirty="0"/>
              <a:t>Criaram-se vistas para (…).</a:t>
            </a:r>
          </a:p>
        </p:txBody>
      </p:sp>
    </p:spTree>
    <p:extLst>
      <p:ext uri="{BB962C8B-B14F-4D97-AF65-F5344CB8AC3E}">
        <p14:creationId xmlns:p14="http://schemas.microsoft.com/office/powerpoint/2010/main" val="3523014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44FD1B-ECBA-40BE-904B-B77E02D6A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Índices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AF9128D-5056-49E1-A67A-11867AA9E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Os índices permitem melhorar o desempenho de certas </a:t>
            </a:r>
            <a:r>
              <a:rPr lang="pt-PT" i="1" dirty="0"/>
              <a:t>queries</a:t>
            </a:r>
            <a:r>
              <a:rPr lang="pt-PT" dirty="0"/>
              <a:t>.</a:t>
            </a:r>
          </a:p>
          <a:p>
            <a:r>
              <a:rPr lang="pt-PT" dirty="0"/>
              <a:t>Foi aplicado um índice ao nome e apelido dos autores, de forma a tornar mais rápida a procura por nome de autor.</a:t>
            </a:r>
          </a:p>
          <a:p>
            <a:r>
              <a:rPr lang="pt-PT" dirty="0"/>
              <a:t>Foi aplicado um índice ao título dos livros, de forma a tornar mais rápida a procura por título de livro.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934780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11D032-9FF7-44A7-B1B2-EBD532E7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Transações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EDE3D9B-C2D6-479C-8EA1-C30840F85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As transações desempenham um papel crucial.</a:t>
            </a:r>
          </a:p>
          <a:p>
            <a:r>
              <a:rPr lang="pt-PT" dirty="0"/>
              <a:t>Todo o povoamento é efetuado com base em transações, evitando erros que levem à inconsistência de dados.</a:t>
            </a:r>
          </a:p>
        </p:txBody>
      </p:sp>
    </p:spTree>
    <p:extLst>
      <p:ext uri="{BB962C8B-B14F-4D97-AF65-F5344CB8AC3E}">
        <p14:creationId xmlns:p14="http://schemas.microsoft.com/office/powerpoint/2010/main" val="3669748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1041CB-D0B6-406A-BA21-1BA162383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Povoamento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9F691FB-2980-45E3-A02B-A7300896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O povoamento foi efetuado, essencialmente, com base nos procedimentos criados.</a:t>
            </a:r>
          </a:p>
          <a:p>
            <a:r>
              <a:rPr lang="pt-PT" dirty="0"/>
              <a:t>Procurou-se simular grande parte das situações que poderão ocorrer, por forma a provar o cumprimento de todos os requisitos.</a:t>
            </a:r>
          </a:p>
        </p:txBody>
      </p:sp>
    </p:spTree>
    <p:extLst>
      <p:ext uri="{BB962C8B-B14F-4D97-AF65-F5344CB8AC3E}">
        <p14:creationId xmlns:p14="http://schemas.microsoft.com/office/powerpoint/2010/main" val="169145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06109-EDCF-46BA-B29B-3A68ED6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2114" y="1083731"/>
            <a:ext cx="8184221" cy="475879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spc="-100" dirty="0"/>
              <a:t>Sistema NoSQL</a:t>
            </a:r>
          </a:p>
        </p:txBody>
      </p:sp>
    </p:spTree>
    <p:extLst>
      <p:ext uri="{BB962C8B-B14F-4D97-AF65-F5344CB8AC3E}">
        <p14:creationId xmlns:p14="http://schemas.microsoft.com/office/powerpoint/2010/main" val="32031475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B1E1D0-CEF7-4357-8720-B295BB6BA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Migração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0C5A328-DC8D-4764-BEE6-822734787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 migração de dados consiste em três etapas: extração, transformação e inserção.</a:t>
            </a:r>
          </a:p>
          <a:p>
            <a:r>
              <a:rPr lang="pt-PT" dirty="0"/>
              <a:t>Permite transformar a base de dados e manter, de forma simples e o mais fiel possível, os dados pré-existentes.</a:t>
            </a:r>
          </a:p>
          <a:p>
            <a:r>
              <a:rPr lang="pt-PT" dirty="0"/>
              <a:t>Foi desenvolvido um programa em </a:t>
            </a:r>
            <a:r>
              <a:rPr lang="pt-PT" i="1" dirty="0"/>
              <a:t>Python</a:t>
            </a:r>
            <a:r>
              <a:rPr lang="pt-PT" dirty="0"/>
              <a:t> para realizar este processo.</a:t>
            </a:r>
          </a:p>
        </p:txBody>
      </p:sp>
    </p:spTree>
    <p:extLst>
      <p:ext uri="{BB962C8B-B14F-4D97-AF65-F5344CB8AC3E}">
        <p14:creationId xmlns:p14="http://schemas.microsoft.com/office/powerpoint/2010/main" val="6000004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A302EF-F259-423A-AABA-D435E6DA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9116" y="864108"/>
            <a:ext cx="3073914" cy="5120639"/>
          </a:xfrm>
        </p:spPr>
        <p:txBody>
          <a:bodyPr>
            <a:normAutofit/>
          </a:bodyPr>
          <a:lstStyle/>
          <a:p>
            <a:pPr algn="r"/>
            <a:r>
              <a:rPr lang="pt-PT">
                <a:solidFill>
                  <a:schemeClr val="tx1">
                    <a:lumMod val="85000"/>
                    <a:lumOff val="15000"/>
                  </a:schemeClr>
                </a:solidFill>
              </a:rPr>
              <a:t>Extração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CFA4CA2-CB2C-4739-993B-BAD2D5A2F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9229" y="864108"/>
            <a:ext cx="5910677" cy="5120640"/>
          </a:xfrm>
        </p:spPr>
        <p:txBody>
          <a:bodyPr>
            <a:norm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344459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BF8D5C-8CAF-4BE8-8700-C1B546E7C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9116" y="864108"/>
            <a:ext cx="3073914" cy="5120639"/>
          </a:xfrm>
        </p:spPr>
        <p:txBody>
          <a:bodyPr>
            <a:normAutofit/>
          </a:bodyPr>
          <a:lstStyle/>
          <a:p>
            <a:pPr algn="r"/>
            <a:r>
              <a:rPr lang="pt-PT">
                <a:solidFill>
                  <a:schemeClr val="tx1">
                    <a:lumMod val="85000"/>
                    <a:lumOff val="15000"/>
                  </a:schemeClr>
                </a:solidFill>
              </a:rPr>
              <a:t>Transformação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F7F4B03-EB9A-498C-AE4B-AFB894A40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9229" y="864108"/>
            <a:ext cx="5910677" cy="5120640"/>
          </a:xfrm>
        </p:spPr>
        <p:txBody>
          <a:bodyPr>
            <a:normAutofit/>
          </a:bodyPr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60128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1190A4-F032-4D80-B8FE-764CB8B9A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9116" y="864108"/>
            <a:ext cx="3073914" cy="5120639"/>
          </a:xfrm>
        </p:spPr>
        <p:txBody>
          <a:bodyPr>
            <a:normAutofit/>
          </a:bodyPr>
          <a:lstStyle/>
          <a:p>
            <a:pPr algn="r"/>
            <a:r>
              <a:rPr lang="pt-PT">
                <a:solidFill>
                  <a:schemeClr val="tx1">
                    <a:lumMod val="85000"/>
                    <a:lumOff val="15000"/>
                  </a:schemeClr>
                </a:solidFill>
              </a:rPr>
              <a:t>Inserção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7FD63CA-FA20-4F7F-86CF-94F3D5CF1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9229" y="864108"/>
            <a:ext cx="5910677" cy="5120640"/>
          </a:xfrm>
        </p:spPr>
        <p:txBody>
          <a:bodyPr>
            <a:normAutofit/>
          </a:bodyPr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976496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128</TotalTime>
  <Words>435</Words>
  <Application>Microsoft Office PowerPoint</Application>
  <PresentationFormat>Ecrã Panorâmico</PresentationFormat>
  <Paragraphs>46</Paragraphs>
  <Slides>22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22</vt:i4>
      </vt:variant>
    </vt:vector>
  </HeadingPairs>
  <TitlesOfParts>
    <vt:vector size="26" baseType="lpstr">
      <vt:lpstr>Arial</vt:lpstr>
      <vt:lpstr>Trebuchet MS</vt:lpstr>
      <vt:lpstr>Wingdings 3</vt:lpstr>
      <vt:lpstr>Faceta</vt:lpstr>
      <vt:lpstr>Gestão de Sistemas de Produção de Energia</vt:lpstr>
      <vt:lpstr>Apresentação do PowerPoint</vt:lpstr>
      <vt:lpstr>Sistema SQL</vt:lpstr>
      <vt:lpstr>Levantamento e Análise de Requisitos</vt:lpstr>
      <vt:lpstr>Levantamento e Análise de Requisitos</vt:lpstr>
      <vt:lpstr>Modelo conceptual</vt:lpstr>
      <vt:lpstr>Modelo conceptual</vt:lpstr>
      <vt:lpstr>Apresentação do PowerPoint</vt:lpstr>
      <vt:lpstr>Modelo lógico</vt:lpstr>
      <vt:lpstr>Modelo lógico</vt:lpstr>
      <vt:lpstr>Modelo conceptual vs. Modelo lógico       </vt:lpstr>
      <vt:lpstr>Apresentação do PowerPoint</vt:lpstr>
      <vt:lpstr>Implementação física</vt:lpstr>
      <vt:lpstr>Vistas</vt:lpstr>
      <vt:lpstr>Índices</vt:lpstr>
      <vt:lpstr>Transações</vt:lpstr>
      <vt:lpstr>Povoamento</vt:lpstr>
      <vt:lpstr>Sistema NoSQL</vt:lpstr>
      <vt:lpstr>Migração de Dados</vt:lpstr>
      <vt:lpstr>Extração de dados</vt:lpstr>
      <vt:lpstr>Transformação de dados</vt:lpstr>
      <vt:lpstr>Inserção de dados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Biblioteca de Beirais</dc:title>
  <dc:creator>José Boticas</dc:creator>
  <cp:lastModifiedBy>João Ribeiro</cp:lastModifiedBy>
  <cp:revision>12</cp:revision>
  <dcterms:created xsi:type="dcterms:W3CDTF">2019-01-14T17:02:24Z</dcterms:created>
  <dcterms:modified xsi:type="dcterms:W3CDTF">2019-01-15T01:41:03Z</dcterms:modified>
</cp:coreProperties>
</file>